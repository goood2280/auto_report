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VEHICLE_A Auto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05740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BD5E1"/>
                </a:solidFill>
                <a:latin typeface="Arial"/>
              </a:defRPr>
            </a:pPr>
            <a:r>
              <a:t>LOT001 | STEP001 | PRODUCT_NAME_A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440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E5E7EB"/>
                </a:solidFill>
                <a:latin typeface="Arial"/>
              </a:defRPr>
            </a:pPr>
            <a:r>
              <a:t>2026-06-18 16:17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F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43000" cy="45720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704088"/>
            <a:ext cx="9509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B7280"/>
                </a:solidFill>
                <a:latin typeface="Arial"/>
              </a:defRPr>
            </a:pPr>
            <a:r>
              <a:t>Lot LOT001 / Root LOT00 / Step STEP001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324612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4173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B7280"/>
                </a:solidFill>
                <a:latin typeface="Arial"/>
              </a:defRPr>
            </a:pPr>
            <a:r>
              <a:t>Measured Sites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70078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F33"/>
                </a:solidFill>
                <a:latin typeface="Arial"/>
              </a:defRPr>
            </a:pPr>
            <a: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34440"/>
            <a:ext cx="324612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4173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B7280"/>
                </a:solidFill>
                <a:latin typeface="Arial"/>
              </a:defRPr>
            </a:pPr>
            <a:r>
              <a:t>Wafers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170078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F33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234440"/>
            <a:ext cx="324612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3608" y="14173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B7280"/>
                </a:solidFill>
                <a:latin typeface="Arial"/>
              </a:defRPr>
            </a:pPr>
            <a:r>
              <a:t>Avg Pass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3608" y="170078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F33"/>
                </a:solidFill>
                <a:latin typeface="Arial"/>
              </a:defRPr>
            </a:pPr>
            <a:r>
              <a:t>100.0%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94360" y="2788920"/>
          <a:ext cx="109728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Item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Mean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Min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Max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Spec Low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Spec High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Pass Rate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ADDP_ITEM_01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62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51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73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Auto Report summary table generated from columnbase data and reformatter specs.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F33"/>
                </a:solidFill>
                <a:latin typeface="Arial"/>
              </a:defRPr>
            </a:pPr>
            <a:r>
              <a:t>Score Board - Index 1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43000" cy="45720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704088"/>
            <a:ext cx="9509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B7280"/>
                </a:solidFill>
                <a:latin typeface="Arial"/>
              </a:defRPr>
            </a:pPr>
            <a:r>
              <a:t>Wafer-level pass score by ADDP/reformatted index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43000"/>
          <a:ext cx="112014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350"/>
                <a:gridCol w="2800350"/>
                <a:gridCol w="2800350"/>
                <a:gridCol w="2800350"/>
              </a:tblGrid>
              <a:tr h="22402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Index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W01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W02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W03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</a:tr>
              <a:tr h="224028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ADDP_ITEM_01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94360" y="5806440"/>
            <a:ext cx="228600" cy="164592"/>
          </a:xfrm>
          <a:prstGeom prst="rect">
            <a:avLst/>
          </a:prstGeom>
          <a:solidFill>
            <a:srgbClr val="DCFCE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5742432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&gt;=95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5806440"/>
            <a:ext cx="228600" cy="164592"/>
          </a:xfrm>
          <a:prstGeom prst="rect">
            <a:avLst/>
          </a:prstGeom>
          <a:solidFill>
            <a:srgbClr val="FEF9C3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29968" y="5742432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80-94.9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5806440"/>
            <a:ext cx="228600" cy="164592"/>
          </a:xfrm>
          <a:prstGeom prst="rect">
            <a:avLst/>
          </a:prstGeom>
          <a:solidFill>
            <a:srgbClr val="FEE2E2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72968" y="5742432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&lt;80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Index 1 example uses per-wafer pass rate against reformatter spec limits.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F33"/>
                </a:solidFill>
                <a:latin typeface="Arial"/>
              </a:defRPr>
            </a:pPr>
            <a:r>
              <a:t>Score Board - Index 2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43000" cy="45720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704088"/>
            <a:ext cx="9509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B7280"/>
                </a:solidFill>
                <a:latin typeface="Arial"/>
              </a:defRPr>
            </a:pPr>
            <a:r>
              <a:t>Wafer-level median value by ADDP/reformatted index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43000"/>
          <a:ext cx="112014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350"/>
                <a:gridCol w="2800350"/>
                <a:gridCol w="2800350"/>
                <a:gridCol w="2800350"/>
              </a:tblGrid>
              <a:tr h="22402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Index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W01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W02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W03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</a:tr>
              <a:tr h="2240280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ADDP_ITEM_01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52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62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72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94360" y="5806440"/>
            <a:ext cx="228600" cy="164592"/>
          </a:xfrm>
          <a:prstGeom prst="rect">
            <a:avLst/>
          </a:prstGeom>
          <a:solidFill>
            <a:srgbClr val="DCFCE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5742432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&gt;=95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5806440"/>
            <a:ext cx="228600" cy="164592"/>
          </a:xfrm>
          <a:prstGeom prst="rect">
            <a:avLst/>
          </a:prstGeom>
          <a:solidFill>
            <a:srgbClr val="FEF9C3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29968" y="5742432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80-94.9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5806440"/>
            <a:ext cx="228600" cy="164592"/>
          </a:xfrm>
          <a:prstGeom prst="rect">
            <a:avLst/>
          </a:prstGeom>
          <a:solidFill>
            <a:srgbClr val="FEE2E2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72968" y="5742432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&lt;80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Index 2 example uses per-wafer median values for the same report indexes.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F33"/>
                </a:solidFill>
                <a:latin typeface="Arial"/>
              </a:defRPr>
            </a:pPr>
            <a:r>
              <a:t>Statistical Table - Index 1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43000" cy="45720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704088"/>
            <a:ext cx="9509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B7280"/>
                </a:solidFill>
                <a:latin typeface="Arial"/>
              </a:defRPr>
            </a:pPr>
            <a:r>
              <a:t>ADDP_ITEM_01 wafer-level distribution summary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14300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87782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Scope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Mean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Std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Median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Min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Max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Pass Rate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Overall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62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8.19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62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51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73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W01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0.577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W02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62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0.577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62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61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63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W03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0.577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F2937"/>
                          </a:solidFill>
                          <a:latin typeface="Arial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Template page: statistical table by index and wafer.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F33"/>
                </a:solidFill>
                <a:latin typeface="Arial"/>
              </a:defRPr>
            </a:pPr>
            <a:r>
              <a:t>Box Plot - Index 1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43000" cy="45720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704088"/>
            <a:ext cx="9509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B7280"/>
                </a:solidFill>
                <a:latin typeface="Arial"/>
              </a:defRPr>
            </a:pPr>
            <a:r>
              <a:t>ADDP_ITEM_01 distribution by wafer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5532120"/>
            <a:ext cx="10424160" cy="0"/>
          </a:xfrm>
          <a:prstGeom prst="line">
            <a:avLst/>
          </a:prstGeom>
          <a:ln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22960" y="1325880"/>
            <a:ext cx="0" cy="4206240"/>
          </a:xfrm>
          <a:prstGeom prst="line">
            <a:avLst/>
          </a:prstGeom>
          <a:ln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289304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108.0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58968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-8.0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60320.0" y="3320217.9310344825"/>
            <a:ext cx="0.0" cy="72521.37931034528"/>
          </a:xfrm>
          <a:prstGeom prst="line">
            <a:avLst/>
          </a:prstGeom>
          <a:ln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08860" y="3338348"/>
            <a:ext cx="502920" cy="54864"/>
          </a:xfrm>
          <a:prstGeom prst="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2308860.0" y="3356478.620689655"/>
            <a:ext cx="502920.0" cy="0.0"/>
          </a:xfrm>
          <a:prstGeom prst="line">
            <a:avLst/>
          </a:prstGeom>
          <a:ln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359152" y="5641848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W01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35040.0" y="2957611.034482759"/>
            <a:ext cx="0.0" cy="72521.37931034435"/>
          </a:xfrm>
          <a:prstGeom prst="line">
            <a:avLst/>
          </a:prstGeom>
          <a:ln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783580" y="2975741"/>
            <a:ext cx="502920" cy="54864"/>
          </a:xfrm>
          <a:prstGeom prst="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783580.0" y="2993871.724137931"/>
            <a:ext cx="502920.0" cy="0.0"/>
          </a:xfrm>
          <a:prstGeom prst="line">
            <a:avLst/>
          </a:prstGeom>
          <a:ln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833872" y="5641848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W02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509760.0" y="2595004.1379310344"/>
            <a:ext cx="0.0" cy="72521.37931034481"/>
          </a:xfrm>
          <a:prstGeom prst="line">
            <a:avLst/>
          </a:prstGeom>
          <a:ln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9258300" y="2613134"/>
            <a:ext cx="502920" cy="54864"/>
          </a:xfrm>
          <a:prstGeom prst="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9258300.0" y="2631264.8275862066"/>
            <a:ext cx="502920.0" cy="0.0"/>
          </a:xfrm>
          <a:prstGeom prst="line">
            <a:avLst/>
          </a:prstGeom>
          <a:ln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308592" y="5641848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W03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Template page: box plot by index across wafers.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F33"/>
                </a:solidFill>
                <a:latin typeface="Arial"/>
              </a:defRPr>
            </a:pPr>
            <a:r>
              <a:t>Trend - Index 1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43000" cy="45720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704088"/>
            <a:ext cx="9509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B7280"/>
                </a:solidFill>
                <a:latin typeface="Arial"/>
              </a:defRPr>
            </a:pPr>
            <a:r>
              <a:t>ADDP_ITEM_01 wafer median trend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5532120"/>
            <a:ext cx="10424160" cy="0"/>
          </a:xfrm>
          <a:prstGeom prst="line">
            <a:avLst/>
          </a:prstGeom>
          <a:ln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22960" y="1325880"/>
            <a:ext cx="0" cy="4206240"/>
          </a:xfrm>
          <a:prstGeom prst="line">
            <a:avLst/>
          </a:prstGeom>
          <a:ln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289304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108.0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58968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-8.0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822960.0" y="2993871.724137931"/>
            <a:ext cx="5212080.0" cy="362606.89655172406"/>
          </a:xfrm>
          <a:prstGeom prst="line">
            <a:avLst/>
          </a:prstGeom>
          <a:ln w="25400">
            <a:solidFill>
              <a:srgbClr val="00A3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035040.0" y="2631264.8275862066"/>
            <a:ext cx="5212080.0" cy="362606.8965517245"/>
          </a:xfrm>
          <a:prstGeom prst="line">
            <a:avLst/>
          </a:prstGeom>
          <a:ln w="25400">
            <a:solidFill>
              <a:srgbClr val="00A3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768096" y="3301614"/>
            <a:ext cx="109728" cy="109728"/>
          </a:xfrm>
          <a:prstGeom prst="ellipse">
            <a:avLst/>
          </a:prstGeom>
          <a:solidFill>
            <a:srgbClr val="00A3A3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564184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W01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6387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334155"/>
                </a:solidFill>
                <a:latin typeface="Arial"/>
              </a:defRPr>
            </a:pPr>
            <a:r>
              <a:t>52.0</a:t>
            </a:r>
          </a:p>
        </p:txBody>
      </p:sp>
      <p:sp>
        <p:nvSpPr>
          <p:cNvPr id="14" name="Oval 13"/>
          <p:cNvSpPr/>
          <p:nvPr/>
        </p:nvSpPr>
        <p:spPr>
          <a:xfrm>
            <a:off x="5980176" y="2939007"/>
            <a:ext cx="109728" cy="109728"/>
          </a:xfrm>
          <a:prstGeom prst="ellipse">
            <a:avLst/>
          </a:prstGeom>
          <a:solidFill>
            <a:srgbClr val="00A3A3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06440" y="564184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W02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2701263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334155"/>
                </a:solidFill>
                <a:latin typeface="Arial"/>
              </a:defRPr>
            </a:pPr>
            <a:r>
              <a:t>62.0</a:t>
            </a:r>
          </a:p>
        </p:txBody>
      </p:sp>
      <p:sp>
        <p:nvSpPr>
          <p:cNvPr id="17" name="Oval 16"/>
          <p:cNvSpPr/>
          <p:nvPr/>
        </p:nvSpPr>
        <p:spPr>
          <a:xfrm>
            <a:off x="11192256" y="2576400"/>
            <a:ext cx="109728" cy="109728"/>
          </a:xfrm>
          <a:prstGeom prst="ellipse">
            <a:avLst/>
          </a:prstGeom>
          <a:solidFill>
            <a:srgbClr val="00A3A3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18520" y="564184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4748B"/>
                </a:solidFill>
                <a:latin typeface="Arial"/>
              </a:defRPr>
            </a:pPr>
            <a:r>
              <a:t>W03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233865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334155"/>
                </a:solidFill>
                <a:latin typeface="Arial"/>
              </a:defRPr>
            </a:pPr>
            <a:r>
              <a:t>72.0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Template page: median trend by index and wafer order.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F33"/>
                </a:solidFill>
                <a:latin typeface="Arial"/>
              </a:defRPr>
            </a:pPr>
            <a:r>
              <a:t>WF Map - Index 1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86384"/>
            <a:ext cx="1143000" cy="45720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704088"/>
            <a:ext cx="9509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B7280"/>
                </a:solidFill>
                <a:latin typeface="Arial"/>
              </a:defRPr>
            </a:pPr>
            <a:r>
              <a:t>ADDP_ITEM_01 wafer map template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3886200" y="1920240"/>
            <a:ext cx="411480" cy="411480"/>
          </a:xfrm>
          <a:prstGeom prst="rect">
            <a:avLst/>
          </a:prstGeom>
          <a:solidFill>
            <a:srgbClr val="FEF9C3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86200" y="2039112"/>
            <a:ext cx="411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334155"/>
                </a:solidFill>
                <a:latin typeface="Arial"/>
              </a:defRPr>
            </a:pPr>
            <a:r>
              <a:t>52</a:t>
            </a:r>
          </a:p>
        </p:txBody>
      </p:sp>
      <p:sp>
        <p:nvSpPr>
          <p:cNvPr id="7" name="Rectangle 6"/>
          <p:cNvSpPr/>
          <p:nvPr/>
        </p:nvSpPr>
        <p:spPr>
          <a:xfrm>
            <a:off x="3886200" y="1508760"/>
            <a:ext cx="411480" cy="411480"/>
          </a:xfrm>
          <a:prstGeom prst="rect">
            <a:avLst/>
          </a:prstGeom>
          <a:solidFill>
            <a:srgbClr val="FEE2E2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86200" y="1627632"/>
            <a:ext cx="411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334155"/>
                </a:solidFill>
                <a:latin typeface="Arial"/>
              </a:defRPr>
            </a:pPr>
            <a:r>
              <a:t>52</a:t>
            </a:r>
          </a:p>
        </p:txBody>
      </p:sp>
      <p:sp>
        <p:nvSpPr>
          <p:cNvPr id="9" name="Rectangle 8"/>
          <p:cNvSpPr/>
          <p:nvPr/>
        </p:nvSpPr>
        <p:spPr>
          <a:xfrm>
            <a:off x="3886200" y="1097280"/>
            <a:ext cx="411480" cy="411480"/>
          </a:xfrm>
          <a:prstGeom prst="rect">
            <a:avLst/>
          </a:prstGeom>
          <a:solidFill>
            <a:srgbClr val="FEE2E2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86200" y="1216152"/>
            <a:ext cx="411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334155"/>
                </a:solidFill>
                <a:latin typeface="Arial"/>
              </a:defRPr>
            </a:pPr>
            <a:r>
              <a:t>51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920240"/>
            <a:ext cx="411480" cy="411480"/>
          </a:xfrm>
          <a:prstGeom prst="rect">
            <a:avLst/>
          </a:prstGeom>
          <a:solidFill>
            <a:srgbClr val="DCFCE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2039112"/>
            <a:ext cx="411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334155"/>
                </a:solidFill>
                <a:latin typeface="Arial"/>
              </a:defRPr>
            </a:pPr>
            <a:r>
              <a:t>52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508760"/>
            <a:ext cx="411480" cy="411480"/>
          </a:xfrm>
          <a:prstGeom prst="rect">
            <a:avLst/>
          </a:prstGeom>
          <a:solidFill>
            <a:srgbClr val="FEF9C3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627632"/>
            <a:ext cx="411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334155"/>
                </a:solidFill>
                <a:latin typeface="Arial"/>
              </a:defRPr>
            </a:pPr>
            <a:r>
              <a:t>52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097280"/>
            <a:ext cx="411480" cy="411480"/>
          </a:xfrm>
          <a:prstGeom prst="rect">
            <a:avLst/>
          </a:prstGeom>
          <a:solidFill>
            <a:srgbClr val="FEE2E2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216152"/>
            <a:ext cx="411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334155"/>
                </a:solidFill>
                <a:latin typeface="Arial"/>
              </a:defRPr>
            </a:pPr>
            <a:r>
              <a:t>52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60" y="1920240"/>
            <a:ext cx="411480" cy="411480"/>
          </a:xfrm>
          <a:prstGeom prst="rect">
            <a:avLst/>
          </a:prstGeom>
          <a:solidFill>
            <a:srgbClr val="DCFCE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2039112"/>
            <a:ext cx="411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334155"/>
                </a:solidFill>
                <a:latin typeface="Arial"/>
              </a:defRPr>
            </a:pPr>
            <a:r>
              <a:t>53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09160" y="1508760"/>
            <a:ext cx="411480" cy="411480"/>
          </a:xfrm>
          <a:prstGeom prst="rect">
            <a:avLst/>
          </a:prstGeom>
          <a:solidFill>
            <a:srgbClr val="DCFCE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1627632"/>
            <a:ext cx="411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334155"/>
                </a:solidFill>
                <a:latin typeface="Arial"/>
              </a:defRPr>
            </a:pPr>
            <a:r>
              <a:t>52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60" y="1097280"/>
            <a:ext cx="411480" cy="411480"/>
          </a:xfrm>
          <a:prstGeom prst="rect">
            <a:avLst/>
          </a:prstGeom>
          <a:solidFill>
            <a:srgbClr val="FEF9C3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1216152"/>
            <a:ext cx="4114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334155"/>
                </a:solidFill>
                <a:latin typeface="Arial"/>
              </a:defRPr>
            </a:pPr>
            <a:r>
              <a:t>52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14173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Arial"/>
              </a:defRPr>
            </a:pPr>
            <a:r>
              <a:t>Color scale follows the selected index value range for the displayed wafer.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19659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1F33"/>
                </a:solidFill>
                <a:latin typeface="Arial"/>
              </a:defRPr>
            </a:pPr>
            <a:r>
              <a:t>Map chips: 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Template page: WF map by index using chip coordinates.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